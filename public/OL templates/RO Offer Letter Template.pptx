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Parmigiano Caption" charset="1" panose="00000000000000000000"/>
      <p:regular r:id="rId7"/>
    </p:embeddedFont>
    <p:embeddedFont>
      <p:font typeface="Intro Rust" charset="1" panose="00000500000000000000"/>
      <p:regular r:id="rId8"/>
    </p:embeddedFont>
    <p:embeddedFont>
      <p:font typeface="Cooper Hewitt Bold" charset="1" panose="00000000000000000000"/>
      <p:regular r:id="rId9"/>
    </p:embeddedFont>
    <p:embeddedFont>
      <p:font typeface="Lucida Console" charset="1" panose="020B0609040504020204"/>
      <p:regular r:id="rId10"/>
    </p:embeddedFont>
    <p:embeddedFont>
      <p:font typeface="Cooper Hewitt" charset="1" panose="00000000000000000000"/>
      <p:regular r:id="rId11"/>
    </p:embeddedFont>
    <p:embeddedFont>
      <p:font typeface="Khand" charset="1" panose="02000000000000000000"/>
      <p:regular r:id="rId12"/>
    </p:embeddedFont>
    <p:embeddedFont>
      <p:font typeface="Open Sans Bold" charset="1" panose="020B0806030504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268554">
            <a:off x="-857723" y="-499137"/>
            <a:ext cx="2125304" cy="1657737"/>
          </a:xfrm>
          <a:custGeom>
            <a:avLst/>
            <a:gdLst/>
            <a:ahLst/>
            <a:cxnLst/>
            <a:rect r="r" b="b" t="t" l="l"/>
            <a:pathLst>
              <a:path h="1657737" w="2125304">
                <a:moveTo>
                  <a:pt x="2125304" y="1657737"/>
                </a:moveTo>
                <a:lnTo>
                  <a:pt x="0" y="1657737"/>
                </a:lnTo>
                <a:lnTo>
                  <a:pt x="0" y="0"/>
                </a:lnTo>
                <a:lnTo>
                  <a:pt x="2125304" y="0"/>
                </a:lnTo>
                <a:lnTo>
                  <a:pt x="2125304" y="1657737"/>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367111" y="-184946"/>
            <a:ext cx="1693677" cy="1863743"/>
          </a:xfrm>
          <a:custGeom>
            <a:avLst/>
            <a:gdLst/>
            <a:ahLst/>
            <a:cxnLst/>
            <a:rect r="r" b="b" t="t" l="l"/>
            <a:pathLst>
              <a:path h="1863743" w="1693677">
                <a:moveTo>
                  <a:pt x="0" y="0"/>
                </a:moveTo>
                <a:lnTo>
                  <a:pt x="1693677" y="0"/>
                </a:lnTo>
                <a:lnTo>
                  <a:pt x="1693677" y="1863743"/>
                </a:lnTo>
                <a:lnTo>
                  <a:pt x="0" y="1863743"/>
                </a:lnTo>
                <a:lnTo>
                  <a:pt x="0" y="0"/>
                </a:lnTo>
                <a:close/>
              </a:path>
            </a:pathLst>
          </a:custGeom>
          <a:blipFill>
            <a:blip r:embed="rId4"/>
            <a:stretch>
              <a:fillRect l="0" t="0" r="0" b="0"/>
            </a:stretch>
          </a:blipFill>
        </p:spPr>
      </p:sp>
      <p:sp>
        <p:nvSpPr>
          <p:cNvPr name="Freeform 4" id="4"/>
          <p:cNvSpPr/>
          <p:nvPr/>
        </p:nvSpPr>
        <p:spPr>
          <a:xfrm flipH="true" flipV="false" rot="-5643012">
            <a:off x="5209199" y="8211855"/>
            <a:ext cx="3024000" cy="2203740"/>
          </a:xfrm>
          <a:custGeom>
            <a:avLst/>
            <a:gdLst/>
            <a:ahLst/>
            <a:cxnLst/>
            <a:rect r="r" b="b" t="t" l="l"/>
            <a:pathLst>
              <a:path h="2203740" w="3024000">
                <a:moveTo>
                  <a:pt x="3024000" y="0"/>
                </a:moveTo>
                <a:lnTo>
                  <a:pt x="0" y="0"/>
                </a:lnTo>
                <a:lnTo>
                  <a:pt x="0" y="2203740"/>
                </a:lnTo>
                <a:lnTo>
                  <a:pt x="3024000" y="2203740"/>
                </a:lnTo>
                <a:lnTo>
                  <a:pt x="302400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true" rot="0">
            <a:off x="6174316" y="8745888"/>
            <a:ext cx="1752795" cy="2131058"/>
          </a:xfrm>
          <a:custGeom>
            <a:avLst/>
            <a:gdLst/>
            <a:ahLst/>
            <a:cxnLst/>
            <a:rect r="r" b="b" t="t" l="l"/>
            <a:pathLst>
              <a:path h="2131058" w="1752795">
                <a:moveTo>
                  <a:pt x="1752795" y="2131058"/>
                </a:moveTo>
                <a:lnTo>
                  <a:pt x="0" y="2131058"/>
                </a:lnTo>
                <a:lnTo>
                  <a:pt x="0" y="0"/>
                </a:lnTo>
                <a:lnTo>
                  <a:pt x="1752795" y="0"/>
                </a:lnTo>
                <a:lnTo>
                  <a:pt x="1752795" y="2131058"/>
                </a:lnTo>
                <a:close/>
              </a:path>
            </a:pathLst>
          </a:custGeom>
          <a:blipFill>
            <a:blip r:embed="rId7"/>
            <a:stretch>
              <a:fillRect l="0" t="0" r="0" b="0"/>
            </a:stretch>
          </a:blipFill>
        </p:spPr>
      </p:sp>
      <p:grpSp>
        <p:nvGrpSpPr>
          <p:cNvPr name="Group 6" id="6"/>
          <p:cNvGrpSpPr/>
          <p:nvPr/>
        </p:nvGrpSpPr>
        <p:grpSpPr>
          <a:xfrm rot="0">
            <a:off x="756000" y="9313725"/>
            <a:ext cx="164975" cy="589913"/>
            <a:chOff x="0" y="0"/>
            <a:chExt cx="219967" cy="786550"/>
          </a:xfrm>
        </p:grpSpPr>
        <p:sp>
          <p:nvSpPr>
            <p:cNvPr name="Freeform 7" id="7"/>
            <p:cNvSpPr/>
            <p:nvPr/>
          </p:nvSpPr>
          <p:spPr>
            <a:xfrm flipH="false" flipV="false" rot="0">
              <a:off x="0" y="0"/>
              <a:ext cx="219967" cy="219967"/>
            </a:xfrm>
            <a:custGeom>
              <a:avLst/>
              <a:gdLst/>
              <a:ahLst/>
              <a:cxnLst/>
              <a:rect r="r" b="b" t="t" l="l"/>
              <a:pathLst>
                <a:path h="219967" w="219967">
                  <a:moveTo>
                    <a:pt x="0" y="0"/>
                  </a:moveTo>
                  <a:lnTo>
                    <a:pt x="219967" y="0"/>
                  </a:lnTo>
                  <a:lnTo>
                    <a:pt x="219967" y="219967"/>
                  </a:lnTo>
                  <a:lnTo>
                    <a:pt x="0" y="2199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40259" y="40259"/>
              <a:ext cx="139450" cy="139450"/>
            </a:xfrm>
            <a:custGeom>
              <a:avLst/>
              <a:gdLst/>
              <a:ahLst/>
              <a:cxnLst/>
              <a:rect r="r" b="b" t="t" l="l"/>
              <a:pathLst>
                <a:path h="139450" w="139450">
                  <a:moveTo>
                    <a:pt x="0" y="0"/>
                  </a:moveTo>
                  <a:lnTo>
                    <a:pt x="139450" y="0"/>
                  </a:lnTo>
                  <a:lnTo>
                    <a:pt x="139450" y="139450"/>
                  </a:lnTo>
                  <a:lnTo>
                    <a:pt x="0" y="1394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283116"/>
              <a:ext cx="219967" cy="219967"/>
            </a:xfrm>
            <a:custGeom>
              <a:avLst/>
              <a:gdLst/>
              <a:ahLst/>
              <a:cxnLst/>
              <a:rect r="r" b="b" t="t" l="l"/>
              <a:pathLst>
                <a:path h="219967" w="219967">
                  <a:moveTo>
                    <a:pt x="0" y="0"/>
                  </a:moveTo>
                  <a:lnTo>
                    <a:pt x="219967" y="0"/>
                  </a:lnTo>
                  <a:lnTo>
                    <a:pt x="219967" y="219967"/>
                  </a:lnTo>
                  <a:lnTo>
                    <a:pt x="0" y="2199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36976" y="342755"/>
              <a:ext cx="132112" cy="91102"/>
            </a:xfrm>
            <a:custGeom>
              <a:avLst/>
              <a:gdLst/>
              <a:ahLst/>
              <a:cxnLst/>
              <a:rect r="r" b="b" t="t" l="l"/>
              <a:pathLst>
                <a:path h="91102" w="132112">
                  <a:moveTo>
                    <a:pt x="0" y="0"/>
                  </a:moveTo>
                  <a:lnTo>
                    <a:pt x="132112" y="0"/>
                  </a:lnTo>
                  <a:lnTo>
                    <a:pt x="132112" y="91102"/>
                  </a:lnTo>
                  <a:lnTo>
                    <a:pt x="0" y="911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0" y="566583"/>
              <a:ext cx="219967" cy="219967"/>
            </a:xfrm>
            <a:custGeom>
              <a:avLst/>
              <a:gdLst/>
              <a:ahLst/>
              <a:cxnLst/>
              <a:rect r="r" b="b" t="t" l="l"/>
              <a:pathLst>
                <a:path h="219967" w="219967">
                  <a:moveTo>
                    <a:pt x="0" y="0"/>
                  </a:moveTo>
                  <a:lnTo>
                    <a:pt x="219967" y="0"/>
                  </a:lnTo>
                  <a:lnTo>
                    <a:pt x="219967" y="219967"/>
                  </a:lnTo>
                  <a:lnTo>
                    <a:pt x="0" y="2199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2" id="12"/>
            <p:cNvSpPr/>
            <p:nvPr/>
          </p:nvSpPr>
          <p:spPr>
            <a:xfrm flipH="false" flipV="false" rot="0">
              <a:off x="36946" y="603529"/>
              <a:ext cx="140996" cy="140996"/>
            </a:xfrm>
            <a:custGeom>
              <a:avLst/>
              <a:gdLst/>
              <a:ahLst/>
              <a:cxnLst/>
              <a:rect r="r" b="b" t="t" l="l"/>
              <a:pathLst>
                <a:path h="140996" w="140996">
                  <a:moveTo>
                    <a:pt x="0" y="0"/>
                  </a:moveTo>
                  <a:lnTo>
                    <a:pt x="140996" y="0"/>
                  </a:lnTo>
                  <a:lnTo>
                    <a:pt x="140996" y="140995"/>
                  </a:lnTo>
                  <a:lnTo>
                    <a:pt x="0" y="14099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13" id="13"/>
          <p:cNvSpPr/>
          <p:nvPr/>
        </p:nvSpPr>
        <p:spPr>
          <a:xfrm flipH="false" flipV="false" rot="0">
            <a:off x="6020694" y="-107844"/>
            <a:ext cx="1728576" cy="1786642"/>
          </a:xfrm>
          <a:custGeom>
            <a:avLst/>
            <a:gdLst/>
            <a:ahLst/>
            <a:cxnLst/>
            <a:rect r="r" b="b" t="t" l="l"/>
            <a:pathLst>
              <a:path h="1786642" w="1728576">
                <a:moveTo>
                  <a:pt x="0" y="0"/>
                </a:moveTo>
                <a:lnTo>
                  <a:pt x="1728576" y="0"/>
                </a:lnTo>
                <a:lnTo>
                  <a:pt x="1728576" y="1786641"/>
                </a:lnTo>
                <a:lnTo>
                  <a:pt x="0" y="1786641"/>
                </a:lnTo>
                <a:lnTo>
                  <a:pt x="0" y="0"/>
                </a:lnTo>
                <a:close/>
              </a:path>
            </a:pathLst>
          </a:custGeom>
          <a:blipFill>
            <a:blip r:embed="rId16">
              <a:alphaModFix amt="6999"/>
            </a:blip>
            <a:stretch>
              <a:fillRect l="0" t="0" r="0" b="0"/>
            </a:stretch>
          </a:blipFill>
        </p:spPr>
      </p:sp>
      <p:sp>
        <p:nvSpPr>
          <p:cNvPr name="TextBox 14" id="14"/>
          <p:cNvSpPr txBox="true"/>
          <p:nvPr/>
        </p:nvSpPr>
        <p:spPr>
          <a:xfrm rot="0">
            <a:off x="756000" y="3408007"/>
            <a:ext cx="6048000" cy="5843343"/>
          </a:xfrm>
          <a:prstGeom prst="rect">
            <a:avLst/>
          </a:prstGeom>
        </p:spPr>
        <p:txBody>
          <a:bodyPr anchor="t" rtlCol="false" tIns="0" lIns="0" bIns="0" rIns="0">
            <a:spAutoFit/>
          </a:bodyPr>
          <a:lstStyle/>
          <a:p>
            <a:pPr algn="just">
              <a:lnSpc>
                <a:spcPts val="1120"/>
              </a:lnSpc>
              <a:spcBef>
                <a:spcPct val="0"/>
              </a:spcBef>
            </a:pPr>
            <a:r>
              <a:rPr lang="en-US" sz="800" spc="3">
                <a:solidFill>
                  <a:srgbClr val="34302B"/>
                </a:solidFill>
                <a:latin typeface="Parmigiano Caption"/>
                <a:ea typeface="Parmigiano Caption"/>
                <a:cs typeface="Parmigiano Caption"/>
                <a:sym typeface="Parmigiano Caption"/>
              </a:rPr>
              <a:t><![CDATA[We are pleased to offer you an Offer letter as designation of Relationship Officer (RO) at “<<GP>>’’ Gram Panchayat, “<<block>>’’ Block , “<<district>>’’ District, Which will effect from the date of your performance starts. We congratulate you and wish you a long and successful career with us. We are confident that your contribution will take us further in our journey towards becoming world leaders. We assure you of our support for your professional development and growth.]]></a:t>
            </a:r>
          </a:p>
          <a:p>
            <a:pPr algn="just">
              <a:lnSpc>
                <a:spcPts val="1120"/>
              </a:lnSpc>
              <a:spcBef>
                <a:spcPct val="0"/>
              </a:spcBef>
            </a:pPr>
          </a:p>
          <a:p>
            <a:pPr algn="just">
              <a:lnSpc>
                <a:spcPts val="1120"/>
              </a:lnSpc>
              <a:spcBef>
                <a:spcPct val="0"/>
              </a:spcBef>
            </a:pPr>
            <a:r>
              <a:rPr lang="en-US" sz="800" spc="3">
                <a:solidFill>
                  <a:srgbClr val="34302B"/>
                </a:solidFill>
                <a:latin typeface="Parmigiano Caption"/>
                <a:ea typeface="Parmigiano Caption"/>
                <a:cs typeface="Parmigiano Caption"/>
                <a:sym typeface="Parmigiano Caption"/>
              </a:rPr>
              <a:t>Humanity Foundation is a Government Registered Trust and you are going to be a part of this Organization. You will get Monthly Honorarium of Rupees 6,000(six thousands)inr+ 1500(One Thousand Five Hundred) as travelling allowance. Your responsibility/task is to doing survey minimum 20 families every day, through which has to generate minimum 8 doctors appointments, in a month has to provide at least 200 Doctor appointments+100 Memberships &amp; other banking services. It is Mandatory to give your work report to your senior at the end of every day and organize Health camps. Apart from this it is your duty to supply medicines/Glasses/test reports to Members/Patients. Also you can regularly get spot incentives, loan Commissions etc by providing various services.</a:t>
            </a:r>
          </a:p>
          <a:p>
            <a:pPr algn="just">
              <a:lnSpc>
                <a:spcPts val="1120"/>
              </a:lnSpc>
              <a:spcBef>
                <a:spcPct val="0"/>
              </a:spcBef>
            </a:pPr>
          </a:p>
          <a:p>
            <a:pPr algn="just">
              <a:lnSpc>
                <a:spcPts val="1120"/>
              </a:lnSpc>
              <a:spcBef>
                <a:spcPct val="0"/>
              </a:spcBef>
            </a:pPr>
            <a:r>
              <a:rPr lang="en-US" sz="800" spc="3">
                <a:solidFill>
                  <a:srgbClr val="34302B"/>
                </a:solidFill>
                <a:latin typeface="Parmigiano Caption"/>
                <a:ea typeface="Parmigiano Caption"/>
                <a:cs typeface="Parmigiano Caption"/>
                <a:sym typeface="Parmigiano Caption"/>
              </a:rPr>
              <a:t>Your offer has been made based on information furnished by you. However, if there is a discrepancy in the copies of documents or certificates given by you as a proof of above, we retain the right to review our offer of employment. </a:t>
            </a:r>
          </a:p>
          <a:p>
            <a:pPr algn="just">
              <a:lnSpc>
                <a:spcPts val="1120"/>
              </a:lnSpc>
              <a:spcBef>
                <a:spcPct val="0"/>
              </a:spcBef>
            </a:pPr>
          </a:p>
          <a:p>
            <a:pPr algn="just">
              <a:lnSpc>
                <a:spcPts val="1400"/>
              </a:lnSpc>
              <a:spcBef>
                <a:spcPct val="0"/>
              </a:spcBef>
            </a:pPr>
            <a:r>
              <a:rPr lang="en-US" sz="1000">
                <a:solidFill>
                  <a:srgbClr val="DB1D1D"/>
                </a:solidFill>
                <a:latin typeface="Intro Rust"/>
                <a:ea typeface="Intro Rust"/>
                <a:cs typeface="Intro Rust"/>
                <a:sym typeface="Intro Rust"/>
              </a:rPr>
              <a:t>Details of the terms and conditions of the offer are as under:</a:t>
            </a:r>
          </a:p>
          <a:p>
            <a:pPr algn="just">
              <a:lnSpc>
                <a:spcPts val="1120"/>
              </a:lnSpc>
              <a:spcBef>
                <a:spcPct val="0"/>
              </a:spcBef>
            </a:pP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Trust isn’t liable to pay you the above Honorarium, if you found guilty or non compliance in the Trust.</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The notice period is one month from the effective date of acceptance of resignation. However the Trust at its sole discretion is liable to terminate with immediate effect due to nonperformance or integrity issues.</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The Trust holds all right to switch over to POP (payment on performance) mode without any further notice or information.</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The Trust can reallocate your shift &amp; process as per requirement and the employee should be flexible enough to reallocate as per Trust’s requirement, failing which service come to an end.</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If you cannot Complete the stipulated task, the amount of your Monthly Honorarium will depend on the volume of your work.</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To claim any salary or dues an employee has to be there in the Trust floor minimum 40 days.  </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You will get HF identity cards. always wear formal dress &amp; carry your ID card along with you during duty hours.</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You may not offer any product or services to any member on your behalf without the Organization’s permission.</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You have to send </a:t>
            </a:r>
            <a:r>
              <a:rPr lang="en-US" sz="800">
                <a:solidFill>
                  <a:srgbClr val="34302B"/>
                </a:solidFill>
                <a:latin typeface="Parmigiano Caption"/>
                <a:ea typeface="Parmigiano Caption"/>
                <a:cs typeface="Parmigiano Caption"/>
                <a:sym typeface="Parmigiano Caption"/>
              </a:rPr>
              <a:t>your daily performance report</a:t>
            </a:r>
            <a:r>
              <a:rPr lang="en-US" sz="800">
                <a:solidFill>
                  <a:srgbClr val="34302B"/>
                </a:solidFill>
                <a:latin typeface="Parmigiano Caption"/>
                <a:ea typeface="Parmigiano Caption"/>
                <a:cs typeface="Parmigiano Caption"/>
                <a:sym typeface="Parmigiano Caption"/>
              </a:rPr>
              <a:t> to your senior. If you do not deliver your daily report till 3 days then 300 inr will deduct from your base Honorarium and you would be warned but if you will do continue the same then within 5 days you may get a “Show Cause notice”. After 10 days of your inactive response we will take it as your resignation. You will lose your job.</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Medicine or pathology due or membership fees Daily collection and submit to HF Official is an important work in your daily schedule.</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You cannot keep Membership fees/ Medicine billed amount/ Pathology billed amount etc.. </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Please do not miss behave with any HF Members.</a:t>
            </a:r>
          </a:p>
          <a:p>
            <a:pPr algn="just" marL="172722" indent="-86361" lvl="1">
              <a:lnSpc>
                <a:spcPts val="1120"/>
              </a:lnSpc>
              <a:buAutoNum type="arabicPeriod" startAt="1"/>
            </a:pPr>
            <a:r>
              <a:rPr lang="en-US" sz="800">
                <a:solidFill>
                  <a:srgbClr val="34302B"/>
                </a:solidFill>
                <a:latin typeface="Parmigiano Caption"/>
                <a:ea typeface="Parmigiano Caption"/>
                <a:cs typeface="Parmigiano Caption"/>
                <a:sym typeface="Parmigiano Caption"/>
              </a:rPr>
              <a:t>Within the 10</a:t>
            </a:r>
            <a:r>
              <a:rPr lang="en-US" sz="800">
                <a:solidFill>
                  <a:srgbClr val="34302B"/>
                </a:solidFill>
                <a:latin typeface="Parmigiano Caption"/>
                <a:ea typeface="Parmigiano Caption"/>
                <a:cs typeface="Parmigiano Caption"/>
                <a:sym typeface="Parmigiano Caption"/>
              </a:rPr>
              <a:t>th</a:t>
            </a:r>
            <a:r>
              <a:rPr lang="en-US" sz="800">
                <a:solidFill>
                  <a:srgbClr val="34302B"/>
                </a:solidFill>
                <a:latin typeface="Parmigiano Caption"/>
                <a:ea typeface="Parmigiano Caption"/>
                <a:cs typeface="Parmigiano Caption"/>
                <a:sym typeface="Parmigiano Caption"/>
              </a:rPr>
              <a:t> of every month, you will receive the Honorarium of the previous month.</a:t>
            </a:r>
          </a:p>
          <a:p>
            <a:pPr algn="just">
              <a:lnSpc>
                <a:spcPts val="1120"/>
              </a:lnSpc>
              <a:spcBef>
                <a:spcPct val="0"/>
              </a:spcBef>
            </a:pPr>
          </a:p>
          <a:p>
            <a:pPr algn="just">
              <a:lnSpc>
                <a:spcPts val="1120"/>
              </a:lnSpc>
              <a:spcBef>
                <a:spcPct val="0"/>
              </a:spcBef>
            </a:pPr>
          </a:p>
          <a:p>
            <a:pPr algn="just">
              <a:lnSpc>
                <a:spcPts val="1400"/>
              </a:lnSpc>
              <a:spcBef>
                <a:spcPct val="0"/>
              </a:spcBef>
            </a:pPr>
          </a:p>
          <a:p>
            <a:pPr algn="just">
              <a:lnSpc>
                <a:spcPts val="1400"/>
              </a:lnSpc>
              <a:spcBef>
                <a:spcPct val="0"/>
              </a:spcBef>
            </a:pPr>
          </a:p>
          <a:p>
            <a:pPr algn="just">
              <a:lnSpc>
                <a:spcPts val="1400"/>
              </a:lnSpc>
              <a:spcBef>
                <a:spcPct val="0"/>
              </a:spcBef>
            </a:pPr>
          </a:p>
        </p:txBody>
      </p:sp>
      <p:sp>
        <p:nvSpPr>
          <p:cNvPr name="Freeform 15" id="15"/>
          <p:cNvSpPr/>
          <p:nvPr/>
        </p:nvSpPr>
        <p:spPr>
          <a:xfrm flipH="true" flipV="true" rot="0">
            <a:off x="-169276" y="9090304"/>
            <a:ext cx="1979658" cy="1786642"/>
          </a:xfrm>
          <a:custGeom>
            <a:avLst/>
            <a:gdLst/>
            <a:ahLst/>
            <a:cxnLst/>
            <a:rect r="r" b="b" t="t" l="l"/>
            <a:pathLst>
              <a:path h="1786642" w="1979658">
                <a:moveTo>
                  <a:pt x="1979659" y="1786642"/>
                </a:moveTo>
                <a:lnTo>
                  <a:pt x="0" y="1786642"/>
                </a:lnTo>
                <a:lnTo>
                  <a:pt x="0" y="0"/>
                </a:lnTo>
                <a:lnTo>
                  <a:pt x="1979659" y="0"/>
                </a:lnTo>
                <a:lnTo>
                  <a:pt x="1979659" y="1786642"/>
                </a:lnTo>
                <a:close/>
              </a:path>
            </a:pathLst>
          </a:custGeom>
          <a:blipFill>
            <a:blip r:embed="rId17">
              <a:alphaModFix amt="6999"/>
            </a:blip>
            <a:stretch>
              <a:fillRect l="0" t="0" r="0" b="0"/>
            </a:stretch>
          </a:blipFill>
        </p:spPr>
      </p:sp>
      <p:sp>
        <p:nvSpPr>
          <p:cNvPr name="Freeform 16" id="16"/>
          <p:cNvSpPr/>
          <p:nvPr/>
        </p:nvSpPr>
        <p:spPr>
          <a:xfrm flipH="false" flipV="false" rot="0">
            <a:off x="4865733" y="9356808"/>
            <a:ext cx="955885" cy="226035"/>
          </a:xfrm>
          <a:custGeom>
            <a:avLst/>
            <a:gdLst/>
            <a:ahLst/>
            <a:cxnLst/>
            <a:rect r="r" b="b" t="t" l="l"/>
            <a:pathLst>
              <a:path h="226035" w="955885">
                <a:moveTo>
                  <a:pt x="0" y="0"/>
                </a:moveTo>
                <a:lnTo>
                  <a:pt x="955884" y="0"/>
                </a:lnTo>
                <a:lnTo>
                  <a:pt x="955884" y="226036"/>
                </a:lnTo>
                <a:lnTo>
                  <a:pt x="0" y="226036"/>
                </a:lnTo>
                <a:lnTo>
                  <a:pt x="0" y="0"/>
                </a:lnTo>
                <a:close/>
              </a:path>
            </a:pathLst>
          </a:custGeom>
          <a:blipFill>
            <a:blip r:embed="rId18"/>
            <a:stretch>
              <a:fillRect l="-41207" t="-364168" r="-36242" b="-83981"/>
            </a:stretch>
          </a:blipFill>
        </p:spPr>
      </p:sp>
      <p:sp>
        <p:nvSpPr>
          <p:cNvPr name="Freeform 17" id="17"/>
          <p:cNvSpPr/>
          <p:nvPr/>
        </p:nvSpPr>
        <p:spPr>
          <a:xfrm flipH="false" flipV="false" rot="0">
            <a:off x="784554" y="427398"/>
            <a:ext cx="977506" cy="960309"/>
          </a:xfrm>
          <a:custGeom>
            <a:avLst/>
            <a:gdLst/>
            <a:ahLst/>
            <a:cxnLst/>
            <a:rect r="r" b="b" t="t" l="l"/>
            <a:pathLst>
              <a:path h="960309" w="977506">
                <a:moveTo>
                  <a:pt x="0" y="0"/>
                </a:moveTo>
                <a:lnTo>
                  <a:pt x="977506" y="0"/>
                </a:lnTo>
                <a:lnTo>
                  <a:pt x="977506" y="960309"/>
                </a:lnTo>
                <a:lnTo>
                  <a:pt x="0" y="960309"/>
                </a:lnTo>
                <a:lnTo>
                  <a:pt x="0" y="0"/>
                </a:lnTo>
                <a:close/>
              </a:path>
            </a:pathLst>
          </a:custGeom>
          <a:blipFill>
            <a:blip r:embed="rId19"/>
            <a:stretch>
              <a:fillRect l="0" t="0" r="0" b="0"/>
            </a:stretch>
          </a:blipFill>
        </p:spPr>
      </p:sp>
      <p:sp>
        <p:nvSpPr>
          <p:cNvPr name="Freeform 18" id="18"/>
          <p:cNvSpPr/>
          <p:nvPr/>
        </p:nvSpPr>
        <p:spPr>
          <a:xfrm flipH="false" flipV="false" rot="0">
            <a:off x="3133969" y="8883163"/>
            <a:ext cx="1224826" cy="1052837"/>
          </a:xfrm>
          <a:custGeom>
            <a:avLst/>
            <a:gdLst/>
            <a:ahLst/>
            <a:cxnLst/>
            <a:rect r="r" b="b" t="t" l="l"/>
            <a:pathLst>
              <a:path h="1052837" w="1224826">
                <a:moveTo>
                  <a:pt x="0" y="0"/>
                </a:moveTo>
                <a:lnTo>
                  <a:pt x="1224827" y="0"/>
                </a:lnTo>
                <a:lnTo>
                  <a:pt x="1224827" y="1052837"/>
                </a:lnTo>
                <a:lnTo>
                  <a:pt x="0" y="1052837"/>
                </a:lnTo>
                <a:lnTo>
                  <a:pt x="0" y="0"/>
                </a:lnTo>
                <a:close/>
              </a:path>
            </a:pathLst>
          </a:custGeom>
          <a:blipFill>
            <a:blip r:embed="rId18"/>
            <a:stretch>
              <a:fillRect l="-47936" t="-16855" r="-58491" b="-58564"/>
            </a:stretch>
          </a:blipFill>
        </p:spPr>
      </p:sp>
      <p:grpSp>
        <p:nvGrpSpPr>
          <p:cNvPr name="Group 19" id="19"/>
          <p:cNvGrpSpPr/>
          <p:nvPr/>
        </p:nvGrpSpPr>
        <p:grpSpPr>
          <a:xfrm rot="0">
            <a:off x="756000" y="1463907"/>
            <a:ext cx="6048000" cy="271713"/>
            <a:chOff x="0" y="0"/>
            <a:chExt cx="1693333" cy="76075"/>
          </a:xfrm>
        </p:grpSpPr>
        <p:sp>
          <p:nvSpPr>
            <p:cNvPr name="Freeform 20" id="20"/>
            <p:cNvSpPr/>
            <p:nvPr/>
          </p:nvSpPr>
          <p:spPr>
            <a:xfrm flipH="false" flipV="false" rot="0">
              <a:off x="0" y="0"/>
              <a:ext cx="1693333" cy="76075"/>
            </a:xfrm>
            <a:custGeom>
              <a:avLst/>
              <a:gdLst/>
              <a:ahLst/>
              <a:cxnLst/>
              <a:rect r="r" b="b" t="t" l="l"/>
              <a:pathLst>
                <a:path h="76075" w="1693333">
                  <a:moveTo>
                    <a:pt x="0" y="0"/>
                  </a:moveTo>
                  <a:lnTo>
                    <a:pt x="1693333" y="0"/>
                  </a:lnTo>
                  <a:lnTo>
                    <a:pt x="1693333" y="76075"/>
                  </a:lnTo>
                  <a:lnTo>
                    <a:pt x="0" y="76075"/>
                  </a:lnTo>
                  <a:close/>
                </a:path>
              </a:pathLst>
            </a:custGeom>
            <a:solidFill>
              <a:srgbClr val="1C6954"/>
            </a:solidFill>
          </p:spPr>
        </p:sp>
        <p:sp>
          <p:nvSpPr>
            <p:cNvPr name="TextBox 21" id="21"/>
            <p:cNvSpPr txBox="true"/>
            <p:nvPr/>
          </p:nvSpPr>
          <p:spPr>
            <a:xfrm>
              <a:off x="0" y="-57150"/>
              <a:ext cx="1693333" cy="133225"/>
            </a:xfrm>
            <a:prstGeom prst="rect">
              <a:avLst/>
            </a:prstGeom>
          </p:spPr>
          <p:txBody>
            <a:bodyPr anchor="ctr" rtlCol="false" tIns="50800" lIns="50800" bIns="50800" rIns="50800"/>
            <a:lstStyle/>
            <a:p>
              <a:pPr algn="ctr">
                <a:lnSpc>
                  <a:spcPts val="1700"/>
                </a:lnSpc>
              </a:pPr>
              <a:r>
                <a:rPr lang="en-US" sz="1000">
                  <a:solidFill>
                    <a:srgbClr val="FFFFFF"/>
                  </a:solidFill>
                  <a:latin typeface="Parmigiano Caption"/>
                  <a:ea typeface="Parmigiano Caption"/>
                  <a:cs typeface="Parmigiano Caption"/>
                  <a:sym typeface="Parmigiano Caption"/>
                </a:rPr>
                <a:t>Head Office : Kendriyanagar Keshabganj Chati , Burdwan West Bengal-713104</a:t>
              </a:r>
            </a:p>
          </p:txBody>
        </p:sp>
      </p:grpSp>
      <p:sp>
        <p:nvSpPr>
          <p:cNvPr name="TextBox 22" id="22"/>
          <p:cNvSpPr txBox="true"/>
          <p:nvPr/>
        </p:nvSpPr>
        <p:spPr>
          <a:xfrm rot="0">
            <a:off x="756000" y="2409330"/>
            <a:ext cx="2963158" cy="226695"/>
          </a:xfrm>
          <a:prstGeom prst="rect">
            <a:avLst/>
          </a:prstGeom>
        </p:spPr>
        <p:txBody>
          <a:bodyPr anchor="t" rtlCol="false" tIns="0" lIns="0" bIns="0" rIns="0">
            <a:spAutoFit/>
          </a:bodyPr>
          <a:lstStyle/>
          <a:p>
            <a:pPr algn="l">
              <a:lnSpc>
                <a:spcPts val="1679"/>
              </a:lnSpc>
              <a:spcBef>
                <a:spcPct val="0"/>
              </a:spcBef>
            </a:pPr>
            <a:r>
              <a:rPr lang="en-US" b="true" sz="1199">
                <a:solidFill>
                  <a:srgbClr val="34302B"/>
                </a:solidFill>
                <a:latin typeface="Cooper Hewitt Bold"/>
                <a:ea typeface="Cooper Hewitt Bold"/>
                <a:cs typeface="Cooper Hewitt Bold"/>
                <a:sym typeface="Cooper Hewitt Bold"/>
              </a:rPr>
              <a:t>To:</a:t>
            </a:r>
          </a:p>
        </p:txBody>
      </p:sp>
      <p:sp>
        <p:nvSpPr>
          <p:cNvPr name="TextBox 23" id="23"/>
          <p:cNvSpPr txBox="true"/>
          <p:nvPr/>
        </p:nvSpPr>
        <p:spPr>
          <a:xfrm rot="0">
            <a:off x="1810383" y="1932444"/>
            <a:ext cx="3939234" cy="448311"/>
          </a:xfrm>
          <a:prstGeom prst="rect">
            <a:avLst/>
          </a:prstGeom>
        </p:spPr>
        <p:txBody>
          <a:bodyPr anchor="t" rtlCol="false" tIns="0" lIns="0" bIns="0" rIns="0">
            <a:spAutoFit/>
          </a:bodyPr>
          <a:lstStyle/>
          <a:p>
            <a:pPr algn="ctr">
              <a:lnSpc>
                <a:spcPts val="3639"/>
              </a:lnSpc>
              <a:spcBef>
                <a:spcPct val="0"/>
              </a:spcBef>
            </a:pPr>
            <a:r>
              <a:rPr lang="en-US" sz="2599" u="sng">
                <a:solidFill>
                  <a:srgbClr val="DB1D1D"/>
                </a:solidFill>
                <a:latin typeface="Lucida Console"/>
                <a:ea typeface="Lucida Console"/>
                <a:cs typeface="Lucida Console"/>
                <a:sym typeface="Lucida Console"/>
              </a:rPr>
              <a:t>OFFER LETTER</a:t>
            </a:r>
          </a:p>
        </p:txBody>
      </p:sp>
      <p:sp>
        <p:nvSpPr>
          <p:cNvPr name="TextBox 24" id="24"/>
          <p:cNvSpPr txBox="true"/>
          <p:nvPr/>
        </p:nvSpPr>
        <p:spPr>
          <a:xfrm rot="0">
            <a:off x="1869208" y="376411"/>
            <a:ext cx="4547104" cy="567141"/>
          </a:xfrm>
          <a:prstGeom prst="rect">
            <a:avLst/>
          </a:prstGeom>
        </p:spPr>
        <p:txBody>
          <a:bodyPr anchor="t" rtlCol="false" tIns="0" lIns="0" bIns="0" rIns="0">
            <a:spAutoFit/>
          </a:bodyPr>
          <a:lstStyle/>
          <a:p>
            <a:pPr algn="just">
              <a:lnSpc>
                <a:spcPts val="3915"/>
              </a:lnSpc>
              <a:spcBef>
                <a:spcPct val="0"/>
              </a:spcBef>
            </a:pPr>
            <a:r>
              <a:rPr lang="en-US" b="true" sz="2796">
                <a:solidFill>
                  <a:srgbClr val="1C6954"/>
                </a:solidFill>
                <a:latin typeface="Cooper Hewitt Bold"/>
                <a:ea typeface="Cooper Hewitt Bold"/>
                <a:cs typeface="Cooper Hewitt Bold"/>
                <a:sym typeface="Cooper Hewitt Bold"/>
              </a:rPr>
              <a:t>HUMANITY FOUNDATION </a:t>
            </a:r>
          </a:p>
        </p:txBody>
      </p:sp>
      <p:sp>
        <p:nvSpPr>
          <p:cNvPr name="TextBox 25" id="25"/>
          <p:cNvSpPr txBox="true"/>
          <p:nvPr/>
        </p:nvSpPr>
        <p:spPr>
          <a:xfrm rot="0">
            <a:off x="973697" y="9257209"/>
            <a:ext cx="2016731" cy="641350"/>
          </a:xfrm>
          <a:prstGeom prst="rect">
            <a:avLst/>
          </a:prstGeom>
        </p:spPr>
        <p:txBody>
          <a:bodyPr anchor="t" rtlCol="false" tIns="0" lIns="0" bIns="0" rIns="0">
            <a:spAutoFit/>
          </a:bodyPr>
          <a:lstStyle/>
          <a:p>
            <a:pPr algn="just">
              <a:lnSpc>
                <a:spcPts val="1700"/>
              </a:lnSpc>
            </a:pPr>
            <a:r>
              <a:rPr lang="en-US" sz="1000">
                <a:solidFill>
                  <a:srgbClr val="34302B"/>
                </a:solidFill>
                <a:latin typeface="Cooper Hewitt"/>
                <a:ea typeface="Cooper Hewitt"/>
                <a:cs typeface="Cooper Hewitt"/>
                <a:sym typeface="Cooper Hewitt"/>
              </a:rPr>
              <a:t>9735563157</a:t>
            </a:r>
          </a:p>
          <a:p>
            <a:pPr algn="just">
              <a:lnSpc>
                <a:spcPts val="1700"/>
              </a:lnSpc>
            </a:pPr>
            <a:r>
              <a:rPr lang="en-US" sz="1000">
                <a:solidFill>
                  <a:srgbClr val="34302B"/>
                </a:solidFill>
                <a:latin typeface="Cooper Hewitt"/>
                <a:ea typeface="Cooper Hewitt"/>
                <a:cs typeface="Cooper Hewitt"/>
                <a:sym typeface="Cooper Hewitt"/>
              </a:rPr>
              <a:t>info@hfburdwan.in</a:t>
            </a:r>
          </a:p>
          <a:p>
            <a:pPr algn="just">
              <a:lnSpc>
                <a:spcPts val="1700"/>
              </a:lnSpc>
            </a:pPr>
            <a:r>
              <a:rPr lang="en-US" sz="1000">
                <a:solidFill>
                  <a:srgbClr val="34302B"/>
                </a:solidFill>
                <a:latin typeface="Cooper Hewitt"/>
                <a:ea typeface="Cooper Hewitt"/>
                <a:cs typeface="Cooper Hewitt"/>
                <a:sym typeface="Cooper Hewitt"/>
              </a:rPr>
              <a:t>www.hfburdwan.in</a:t>
            </a:r>
          </a:p>
        </p:txBody>
      </p:sp>
      <p:sp>
        <p:nvSpPr>
          <p:cNvPr name="TextBox 26" id="26"/>
          <p:cNvSpPr txBox="true"/>
          <p:nvPr/>
        </p:nvSpPr>
        <p:spPr>
          <a:xfrm rot="0">
            <a:off x="4711221" y="9585992"/>
            <a:ext cx="1309473" cy="393700"/>
          </a:xfrm>
          <a:prstGeom prst="rect">
            <a:avLst/>
          </a:prstGeom>
        </p:spPr>
        <p:txBody>
          <a:bodyPr anchor="t" rtlCol="false" tIns="0" lIns="0" bIns="0" rIns="0">
            <a:spAutoFit/>
          </a:bodyPr>
          <a:lstStyle/>
          <a:p>
            <a:pPr algn="ctr">
              <a:lnSpc>
                <a:spcPts val="1550"/>
              </a:lnSpc>
            </a:pPr>
            <a:r>
              <a:rPr lang="en-US" sz="1000" b="true">
                <a:solidFill>
                  <a:srgbClr val="34302B"/>
                </a:solidFill>
                <a:latin typeface="Cooper Hewitt Bold"/>
                <a:ea typeface="Cooper Hewitt Bold"/>
                <a:cs typeface="Cooper Hewitt Bold"/>
                <a:sym typeface="Cooper Hewitt Bold"/>
              </a:rPr>
              <a:t>Secretary</a:t>
            </a:r>
          </a:p>
          <a:p>
            <a:pPr algn="ctr">
              <a:lnSpc>
                <a:spcPts val="1550"/>
              </a:lnSpc>
            </a:pPr>
            <a:r>
              <a:rPr lang="en-US" b="true" sz="1000">
                <a:solidFill>
                  <a:srgbClr val="34302B"/>
                </a:solidFill>
                <a:latin typeface="Cooper Hewitt Bold"/>
                <a:ea typeface="Cooper Hewitt Bold"/>
                <a:cs typeface="Cooper Hewitt Bold"/>
                <a:sym typeface="Cooper Hewitt Bold"/>
              </a:rPr>
              <a:t>Humanity Foundation</a:t>
            </a:r>
          </a:p>
        </p:txBody>
      </p:sp>
      <p:sp>
        <p:nvSpPr>
          <p:cNvPr name="TextBox 27" id="27"/>
          <p:cNvSpPr txBox="true"/>
          <p:nvPr/>
        </p:nvSpPr>
        <p:spPr>
          <a:xfrm rot="0">
            <a:off x="756000" y="2616975"/>
            <a:ext cx="2963158" cy="240665"/>
          </a:xfrm>
          <a:prstGeom prst="rect">
            <a:avLst/>
          </a:prstGeom>
        </p:spPr>
        <p:txBody>
          <a:bodyPr anchor="t" rtlCol="false" tIns="0" lIns="0" bIns="0" rIns="0">
            <a:spAutoFit/>
          </a:bodyPr>
          <a:lstStyle/>
          <a:p>
            <a:pPr algn="l">
              <a:lnSpc>
                <a:spcPts val="1959"/>
              </a:lnSpc>
              <a:spcBef>
                <a:spcPct val="0"/>
              </a:spcBef>
            </a:pPr>
            <a:r>
              <a:rPr lang="en-US" sz="1399">
                <a:solidFill>
                  <a:srgbClr val="34302B"/>
                </a:solidFill>
                <a:latin typeface="Parmigiano Caption"/>
                <a:ea typeface="Parmigiano Caption"/>
                <a:cs typeface="Parmigiano Caption"/>
                <a:sym typeface="Parmigiano Caption"/>
              </a:rPr>
              <a:t>&lt;&lt;name&gt;&gt;</a:t>
            </a:r>
          </a:p>
        </p:txBody>
      </p:sp>
      <p:sp>
        <p:nvSpPr>
          <p:cNvPr name="TextBox 28" id="28"/>
          <p:cNvSpPr txBox="true"/>
          <p:nvPr/>
        </p:nvSpPr>
        <p:spPr>
          <a:xfrm rot="0">
            <a:off x="756000" y="2857640"/>
            <a:ext cx="1054383" cy="174625"/>
          </a:xfrm>
          <a:prstGeom prst="rect">
            <a:avLst/>
          </a:prstGeom>
        </p:spPr>
        <p:txBody>
          <a:bodyPr anchor="t" rtlCol="false" tIns="0" lIns="0" bIns="0" rIns="0">
            <a:spAutoFit/>
          </a:bodyPr>
          <a:lstStyle/>
          <a:p>
            <a:pPr algn="l">
              <a:lnSpc>
                <a:spcPts val="1400"/>
              </a:lnSpc>
              <a:spcBef>
                <a:spcPct val="0"/>
              </a:spcBef>
            </a:pPr>
            <a:r>
              <a:rPr lang="en-US" sz="1000">
                <a:solidFill>
                  <a:srgbClr val="34302B"/>
                </a:solidFill>
                <a:latin typeface="Parmigiano Caption"/>
                <a:ea typeface="Parmigiano Caption"/>
                <a:cs typeface="Parmigiano Caption"/>
                <a:sym typeface="Parmigiano Caption"/>
              </a:rPr>
              <a:t>Aadhar Number : </a:t>
            </a:r>
          </a:p>
        </p:txBody>
      </p:sp>
      <p:sp>
        <p:nvSpPr>
          <p:cNvPr name="TextBox 29" id="29"/>
          <p:cNvSpPr txBox="true"/>
          <p:nvPr/>
        </p:nvSpPr>
        <p:spPr>
          <a:xfrm rot="0">
            <a:off x="2201579" y="1146512"/>
            <a:ext cx="3524456" cy="181610"/>
          </a:xfrm>
          <a:prstGeom prst="rect">
            <a:avLst/>
          </a:prstGeom>
        </p:spPr>
        <p:txBody>
          <a:bodyPr anchor="t" rtlCol="false" tIns="0" lIns="0" bIns="0" rIns="0">
            <a:spAutoFit/>
          </a:bodyPr>
          <a:lstStyle/>
          <a:p>
            <a:pPr algn="ctr">
              <a:lnSpc>
                <a:spcPts val="1540"/>
              </a:lnSpc>
              <a:spcBef>
                <a:spcPct val="0"/>
              </a:spcBef>
            </a:pPr>
            <a:r>
              <a:rPr lang="en-US" sz="1100">
                <a:solidFill>
                  <a:srgbClr val="000000"/>
                </a:solidFill>
                <a:latin typeface="Khand"/>
                <a:ea typeface="Khand"/>
                <a:cs typeface="Khand"/>
                <a:sym typeface="Khand"/>
              </a:rPr>
              <a:t>Registered Under Sec - 60 &amp; Rule 69, Registration No. - IV-190100489</a:t>
            </a:r>
          </a:p>
        </p:txBody>
      </p:sp>
      <p:sp>
        <p:nvSpPr>
          <p:cNvPr name="TextBox 30" id="30"/>
          <p:cNvSpPr txBox="true"/>
          <p:nvPr/>
        </p:nvSpPr>
        <p:spPr>
          <a:xfrm rot="0">
            <a:off x="1982063" y="914977"/>
            <a:ext cx="3881776" cy="174625"/>
          </a:xfrm>
          <a:prstGeom prst="rect">
            <a:avLst/>
          </a:prstGeom>
        </p:spPr>
        <p:txBody>
          <a:bodyPr anchor="t" rtlCol="false" tIns="0" lIns="0" bIns="0" rIns="0">
            <a:spAutoFit/>
          </a:bodyPr>
          <a:lstStyle/>
          <a:p>
            <a:pPr algn="ctr">
              <a:lnSpc>
                <a:spcPts val="1400"/>
              </a:lnSpc>
              <a:spcBef>
                <a:spcPct val="0"/>
              </a:spcBef>
            </a:pPr>
            <a:r>
              <a:rPr lang="en-US" b="true" sz="1000">
                <a:solidFill>
                  <a:srgbClr val="000000"/>
                </a:solidFill>
                <a:latin typeface="Open Sans Bold"/>
                <a:ea typeface="Open Sans Bold"/>
                <a:cs typeface="Open Sans Bold"/>
                <a:sym typeface="Open Sans Bold"/>
              </a:rPr>
              <a:t>Registered of Non Government Organization (NGO)</a:t>
            </a:r>
          </a:p>
        </p:txBody>
      </p:sp>
      <p:sp>
        <p:nvSpPr>
          <p:cNvPr name="TextBox 31" id="31"/>
          <p:cNvSpPr txBox="true"/>
          <p:nvPr/>
        </p:nvSpPr>
        <p:spPr>
          <a:xfrm rot="0">
            <a:off x="1810383" y="2857640"/>
            <a:ext cx="1323587" cy="174625"/>
          </a:xfrm>
          <a:prstGeom prst="rect">
            <a:avLst/>
          </a:prstGeom>
        </p:spPr>
        <p:txBody>
          <a:bodyPr anchor="t" rtlCol="false" tIns="0" lIns="0" bIns="0" rIns="0">
            <a:spAutoFit/>
          </a:bodyPr>
          <a:lstStyle/>
          <a:p>
            <a:pPr algn="l">
              <a:lnSpc>
                <a:spcPts val="1400"/>
              </a:lnSpc>
              <a:spcBef>
                <a:spcPct val="0"/>
              </a:spcBef>
            </a:pPr>
            <a:r>
              <a:rPr lang="en-US" sz="1000">
                <a:solidFill>
                  <a:srgbClr val="34302B"/>
                </a:solidFill>
                <a:latin typeface="Parmigiano Caption"/>
                <a:ea typeface="Parmigiano Caption"/>
                <a:cs typeface="Parmigiano Caption"/>
                <a:sym typeface="Parmigiano Caption"/>
              </a:rPr>
              <a:t>&lt;&lt;adhar Number&gt;&gt;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DAG8VMf8Qzg</dc:identifier>
  <dcterms:modified xsi:type="dcterms:W3CDTF">2011-08-01T06:04:30Z</dcterms:modified>
  <cp:revision>1</cp:revision>
  <dc:title>Green and White Simple Modern Corporate Job Offer Cover Letter</dc:title>
</cp:coreProperties>
</file>